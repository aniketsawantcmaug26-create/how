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92" r:id="rId2"/>
    <p:sldId id="257" r:id="rId3"/>
    <p:sldId id="258" r:id="rId4"/>
    <p:sldId id="272" r:id="rId5"/>
    <p:sldId id="306" r:id="rId6"/>
    <p:sldId id="280" r:id="rId7"/>
    <p:sldId id="263" r:id="rId8"/>
    <p:sldId id="287" r:id="rId9"/>
    <p:sldId id="293" r:id="rId10"/>
    <p:sldId id="281" r:id="rId11"/>
    <p:sldId id="283" r:id="rId12"/>
    <p:sldId id="284" r:id="rId13"/>
    <p:sldId id="294" r:id="rId14"/>
    <p:sldId id="297" r:id="rId15"/>
    <p:sldId id="288" r:id="rId16"/>
    <p:sldId id="298" r:id="rId17"/>
    <p:sldId id="295" r:id="rId18"/>
    <p:sldId id="296" r:id="rId19"/>
    <p:sldId id="299" r:id="rId20"/>
    <p:sldId id="300" r:id="rId21"/>
    <p:sldId id="290" r:id="rId22"/>
    <p:sldId id="291" r:id="rId23"/>
    <p:sldId id="301" r:id="rId24"/>
    <p:sldId id="289" r:id="rId25"/>
    <p:sldId id="302" r:id="rId26"/>
    <p:sldId id="273" r:id="rId27"/>
    <p:sldId id="303" r:id="rId28"/>
    <p:sldId id="304" r:id="rId29"/>
    <p:sldId id="305" r:id="rId30"/>
    <p:sldId id="267" r:id="rId31"/>
    <p:sldId id="285" r:id="rId32"/>
    <p:sldId id="286" r:id="rId33"/>
    <p:sldId id="278" r:id="rId34"/>
    <p:sldId id="271" r:id="rId35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7" autoAdjust="0"/>
    <p:restoredTop sz="94343" autoAdjust="0"/>
  </p:normalViewPr>
  <p:slideViewPr>
    <p:cSldViewPr snapToGrid="0" showGuides="1">
      <p:cViewPr varScale="1">
        <p:scale>
          <a:sx n="78" d="100"/>
          <a:sy n="78" d="100"/>
        </p:scale>
        <p:origin x="874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B5FA2-786E-48B5-8D87-45A891B2DE9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62B55-31EF-4E3F-9A2D-B2CF2C06D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497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B0D29-6D28-451C-A083-E699B89F2B3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8D921-2779-44E2-B9B6-AD74864B9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979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28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4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ADD4-96BA-0EE2-DE7E-218004EC4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9915A-6E73-FC4E-9E84-2BCD6ABF0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6DDA0-B4AC-3446-B64A-B76AD412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910E-57B1-4436-89DA-CAD51DC9EF53}" type="datetime1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26A66-4E8F-00A8-34FA-9E998180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E345F-61D2-480A-EAE9-619151F0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891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7AEB-9C18-A61B-1D87-8F68640D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A2870-9E27-CECA-F4F6-BC46A9F07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123BD-DEF9-AACA-04C1-A50F7CEC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25D3-F35A-4D19-9076-06C75BBC2D87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C8957-1D96-27BA-26EE-D3D2668C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90D7-F72C-9FCA-F8E6-0F1FAD04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0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EB3C-87EB-DDB0-49DE-7BF6C001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C068C-5ED0-8010-DE66-7FD847D3C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8F4F4-FADD-507E-F540-C1FB5FCF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09749-4A64-484F-976A-849DA94F81F6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D3C4-3308-243C-5E4B-B1F7052E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5157-94AF-CF0E-F084-A35E66F2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52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ADAA6-85AF-A78B-CB40-1A148859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612A9-9B69-368A-F51A-274069FBC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B02BE-83D0-893D-1733-E0FEB7C0E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3CCF2-8419-B531-6D68-4ECD378BE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A6980-4EC9-4DE4-9B8E-A2609F0E24BB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83563-1E5A-8E52-2D1C-E5724EE9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6EEC5-4F52-E511-5529-F3A5E008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54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B881F-9540-5231-2C0A-7C6B40B3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851AB-AA69-38EA-ED93-8448EB53A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F36BB-4B2C-CEF0-032C-2B89E66D7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6124E-239E-0E1C-47E4-E520FA665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2C94D-A4FF-D0FF-79DE-74692B3DA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2B9F0E-23EE-0D18-1F02-9B5743E1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CD00-5D15-4AD3-AB50-846066CB6F2D}" type="datetime1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A0730-4000-8454-67EA-6C7120AB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6EE88-47D3-8EBD-9146-2EEA431D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12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E132-ACAB-AAE7-15AB-2132FEAE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3B0F9-76DF-5EF0-2DB5-5F6F7415B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D7686-9CDF-47EA-9F58-51D2A8852B9D}" type="datetime1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48463-D568-FA26-18AF-D17FD6FD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DD05E-0B5B-0519-430E-F3A6E628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622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4997A-C38C-3DE8-DD56-9C65B072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24A0-E444-48CF-ACC6-FB453A39E2F6}" type="datetime1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89AF0-8C98-31A8-F349-3F0E75D3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FDDE7-203A-605A-35F8-FC31DE8B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D371BA-EE38-B1CA-9B4C-164CA8D2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95"/>
            <a:ext cx="12192000" cy="95329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12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0699-1B12-681A-D86D-F39A4DCD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3CDCF-7D78-A166-26E6-5877246A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B687C-B002-437D-B100-2FFD2B74E850}" type="datetime1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6C608-F2B1-C458-5331-F6014DCC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50FA1-EBFC-95A6-0B50-BD52279C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48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5419-2CF6-2A3B-37A6-855D7F43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63CDD-B349-8D52-E3EF-F91604E88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D1DF7-D451-E1E5-CA79-F13F697A6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90CB4-AECA-4A81-C332-D55EAAC6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684B5-FAA4-4523-BCD5-C4216A2A8B91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31B15-5AE7-776F-A120-438B439C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1291F-F1BA-F6B6-9E29-990A47C7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EFD9A1-C574-5B7B-569F-4AF329430D3D}"/>
              </a:ext>
            </a:extLst>
          </p:cNvPr>
          <p:cNvSpPr txBox="1">
            <a:spLocks/>
          </p:cNvSpPr>
          <p:nvPr userDrawn="1"/>
        </p:nvSpPr>
        <p:spPr>
          <a:xfrm>
            <a:off x="0" y="-795"/>
            <a:ext cx="12192000" cy="953295"/>
          </a:xfrm>
          <a:prstGeom prst="rect">
            <a:avLst/>
          </a:prstGeom>
          <a:solidFill>
            <a:srgbClr val="0070C0"/>
          </a:solidFill>
          <a:ln w="12700" cap="flat" cmpd="sng" algn="ctr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74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90CC-DB56-7584-D375-143AA7E3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19121-99FB-336B-7401-25BF95D78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0F9D5-3838-E4AB-E48B-C37DE7D95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3FBE7-D9A5-200E-3671-622C55EE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596EB-D42D-47F7-80D2-F32FED54F997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26E0F-A186-428A-28A8-E009E401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59402-3D1B-A907-F072-C53A17EB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21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4035-EB93-7748-5464-DD832EC5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850E6-4793-62E0-7DF0-27C9C7408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A621F-4E89-CD16-55A3-DDACCE46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2024-2882-4E44-A075-C4995ED33289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A938A-F38E-9C22-FBD5-08649474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32D13-4CD6-B351-C8D1-286C5A62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792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147E3-F0FA-F7A7-E8E2-09C7E4FD9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4306A-6F18-66C3-D1EE-917A27A44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BBA7-AE85-6DB2-21EF-34EA2532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B03B7-54B8-471C-A71A-8D2D37C7533B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7EC96-7626-77CC-6EBC-D64E5B34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FFE4B-FE1B-D49D-8686-BDDC418C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64FC-C0C6-4D40-9891-AD39CFB51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7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85885-A3F8-7722-B060-A600F37A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30"/>
            <a:ext cx="12192000" cy="953295"/>
          </a:xfrm>
          <a:prstGeom prst="rect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3366-3672-4489-EEE8-616D13306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CA11-E4C8-F745-FA29-6BB8F667D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599" y="63753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9DC33-DAD2-45E1-B937-739A775E7C2B}" type="datetime1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F138C-6728-D912-3B0A-5CA8BB4BC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10050" y="63753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06613-B1F4-731E-F9B1-EDF7F0C84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2774" y="6375400"/>
            <a:ext cx="581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B64FC-C0C6-4D40-9891-AD39CFB51AC3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6F18E61-BDB6-20C2-6BB9-BD97AFE74FD2}"/>
              </a:ext>
            </a:extLst>
          </p:cNvPr>
          <p:cNvSpPr txBox="1">
            <a:spLocks/>
          </p:cNvSpPr>
          <p:nvPr userDrawn="1"/>
        </p:nvSpPr>
        <p:spPr>
          <a:xfrm>
            <a:off x="933449" y="637539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Seat No.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38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gmarknet.gov.in/" TargetMode="External"/><Relationship Id="rId2" Type="http://schemas.openxmlformats.org/officeDocument/2006/relationships/hyperlink" Target="https://doi.org/10.1504/IJOR.2011.04032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andfonline.com/doi/full/10.1080/24725854.2020.1785649" TargetMode="External"/><Relationship Id="rId4" Type="http://schemas.openxmlformats.org/officeDocument/2006/relationships/hyperlink" Target="https://www.sciencedirect.com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" TargetMode="External"/><Relationship Id="rId2" Type="http://schemas.openxmlformats.org/officeDocument/2006/relationships/hyperlink" Target="https://pubsonline.informs.org/doi/10.1287/opre.2016.1523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cjournals.com/journal/indian-journal-of-agricultural-research/A-6300" TargetMode="External"/><Relationship Id="rId2" Type="http://schemas.openxmlformats.org/officeDocument/2006/relationships/hyperlink" Target="https://www.sciencedirect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searchgate.net/publication/373366064_Real_Time_Cold_Chain_Monitoring_System_Using_IoT" TargetMode="External"/><Relationship Id="rId4" Type="http://schemas.openxmlformats.org/officeDocument/2006/relationships/hyperlink" Target="https://www.researchgate.net/publication/389490304_Smart_Cold_Chain_Logistics_Using_IoT_for_Perishable_Agricultural_Products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2140DC-0192-AAEC-8921-FFFA3CE60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3608"/>
            <a:ext cx="12192000" cy="1878473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 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Crop Price Prediction Using  AI ML”</a:t>
            </a:r>
            <a:br>
              <a:rPr lang="en-US" sz="4000" dirty="0"/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3C51578-499E-7DAA-322B-CF023A90D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6179" y="2210982"/>
            <a:ext cx="9144000" cy="4433009"/>
          </a:xfrm>
        </p:spPr>
        <p:txBody>
          <a:bodyPr>
            <a:normAutofit fontScale="5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Aniket Sawant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Tejas Jadhav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Sarthak Kakade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Dudhal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T.S.Dhage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Dhage T.S.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DKFOE, Pune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675" y="4261571"/>
            <a:ext cx="13906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E147-99A0-A8FE-A240-59AEA7F6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D76C-1715-0E6F-7938-57B425399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421" y="1154416"/>
            <a:ext cx="9904378" cy="5201934"/>
          </a:xfrm>
        </p:spPr>
        <p:txBody>
          <a:bodyPr>
            <a:normAutofit fontScale="92500"/>
          </a:bodyPr>
          <a:lstStyle/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lvl="1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  <a:p>
            <a:pPr lvl="1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Results </a:t>
            </a:r>
          </a:p>
          <a:p>
            <a:pPr lvl="1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Conclusion</a:t>
            </a:r>
          </a:p>
          <a:p>
            <a:pPr lvl="1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1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hand pointing at a group of people&#10;&#10;Description automatically generated">
            <a:extLst>
              <a:ext uri="{FF2B5EF4-FFF2-40B4-BE49-F238E27FC236}">
                <a16:creationId xmlns:a16="http://schemas.microsoft.com/office/drawing/2014/main" id="{883B5748-47F4-CB5D-0D85-381CCC845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426" y="962025"/>
            <a:ext cx="3657558" cy="34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6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4908" y="1205345"/>
            <a:ext cx="11499273" cy="470385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9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Indian agricultural sector continues to face major inefficiencies due to the persistent mismatch between crop production and localized market demand. </a:t>
            </a:r>
          </a:p>
          <a:p>
            <a:pPr marL="342900" indent="-342900">
              <a:lnSpc>
                <a:spcPct val="150000"/>
              </a:lnSpc>
              <a:spcBef>
                <a:spcPts val="69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often cultivate crops without accurate insights into city-level requirements, resulting in oversupply, wastage, reduced profits, or undersupply leading to scarcity and inflation.</a:t>
            </a:r>
          </a:p>
          <a:p>
            <a:pPr marL="342900" indent="-342900">
              <a:lnSpc>
                <a:spcPct val="150000"/>
              </a:lnSpc>
              <a:spcBef>
                <a:spcPts val="69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address this issue, the proposed system “Seasonal Crop Supply Chain Planner with Local Demand Forecasting” integrates artificial intelligence and web technologies to provide actionable demand forecasts for farmers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39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0945" y="882033"/>
            <a:ext cx="11804073" cy="62760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web-based platform that allows farmers to register and access local demand forecasts.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forecasting using LSTM for predicting future demand of seasonal crops in a given city.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dashboard that displays forecasted demand, historical trends, and seasonal variations.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decision making in the agricultural supply chain, thereby reducing waste, stabilizing farmer incomes, and improving food availability.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forecasting model using statistical metrics such as RMSE.</a:t>
            </a:r>
          </a:p>
          <a:p>
            <a:pPr>
              <a:lnSpc>
                <a:spcPct val="150000"/>
              </a:lnSpc>
              <a:spcBef>
                <a:spcPts val="69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23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86" y="1122217"/>
            <a:ext cx="9684223" cy="37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0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1782" y="1260763"/>
            <a:ext cx="11693236" cy="452431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“The proposed system will focus on providing city-specific local demand forecasts for major crops using AI techniques, primarily Long Short-Term Memory (LSTM) networks for time-series prediction. The system will be developed as a web application with functionalities for managing farmer profiles and demand data. Key stakeholders include”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will log in to the system, view demand forecasts for their respective city, and plan their cultivation and supply accordingly.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and Policymakers: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may use aggregated demand insights to plan procurement and distribution policies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ggy bank with money&#10;&#10;Description automatically generated">
            <a:extLst>
              <a:ext uri="{FF2B5EF4-FFF2-40B4-BE49-F238E27FC236}">
                <a16:creationId xmlns:a16="http://schemas.microsoft.com/office/drawing/2014/main" id="{F9EDE150-FD99-5960-1D71-1537FA512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947280"/>
            <a:ext cx="2493818" cy="20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0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sz="2800" b="1" dirty="0"/>
            </a:br>
            <a:endParaRPr lang="en-US" dirty="0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158511"/>
              </p:ext>
            </p:extLst>
          </p:nvPr>
        </p:nvGraphicFramePr>
        <p:xfrm>
          <a:off x="0" y="962028"/>
          <a:ext cx="12192000" cy="61660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20257334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56690645"/>
                    </a:ext>
                  </a:extLst>
                </a:gridCol>
                <a:gridCol w="2202873">
                  <a:extLst>
                    <a:ext uri="{9D8B030D-6E8A-4147-A177-3AD203B41FA5}">
                      <a16:colId xmlns:a16="http://schemas.microsoft.com/office/drawing/2014/main" val="273608472"/>
                    </a:ext>
                  </a:extLst>
                </a:gridCol>
                <a:gridCol w="2673927">
                  <a:extLst>
                    <a:ext uri="{9D8B030D-6E8A-4147-A177-3AD203B41FA5}">
                      <a16:colId xmlns:a16="http://schemas.microsoft.com/office/drawing/2014/main" val="216943484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313764405"/>
                    </a:ext>
                  </a:extLst>
                </a:gridCol>
              </a:tblGrid>
              <a:tr h="14739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Title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Authors / Year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Methods Used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Key Findings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Publisher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4030778174"/>
                  </a:ext>
                </a:extLst>
              </a:tr>
              <a:tr h="88439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Crop recommendation and forecasting system for Maharashtra using machine learning with LSTM: a novel expectation-maximization technique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+ LSTM + EM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Forecasted crop demand and suitability in Maharashtra using weather and historical crop data. LSTM effectively captured temporal variations.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– Discover Sustainability 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3984578005"/>
                  </a:ext>
                </a:extLst>
              </a:tr>
              <a:tr h="7369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Classification and Estimation of Crop Yield Prediction in Karnataka using LSTM with Attention Mechanism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+ Attention + Feature Selection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LSTM with attention for crop yield prediction; high accuracy (~98%). Demonstrates handling of seasonal and city-level variation.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IJISAE 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1948077823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Crop Yield Prediction using Deep Learning Algorithm based on CNN-LSTM with Attention Layer and Skip Connection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 + Attention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CNN-LSTM architecture for wheat and rice; useful reference for combining temporal and spatial patterns.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Indian Journal of Agricultural Research 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1566980411"/>
                  </a:ext>
                </a:extLst>
              </a:tr>
              <a:tr h="7369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ARIMA models to forecast demand in fresh supply chains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ARIMA to onion sales in Ahmedabad market; achieved MAPE of 43.14%. Shows volatility in perishable goods demand.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Int. Journal of Operational Research, Inderscience Publishers 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1402404241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Forecasting wheat prices in India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Modeled monthly wheat price trends (2006–2017). Useful for understanding seasonal price variations.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Wheat Research, ICAR 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1430544398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Hybrid linear time series approach for long term forecasting of crop yield</a:t>
                      </a:r>
                      <a:endParaRPr lang="en-US" sz="12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 + ANN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 outperforms ARIMA alone for long-term forecasts of rice yield in Uttar Pradesh.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Indian Journal of Agricultural Sciences, ICAR 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4187744359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ARIMA model for forecasting of area, production and productivity of oilseeds in India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Forecasted area, production, and yield for oilseeds up to 2031-32; demonstrates handling multi-year forecasts.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Journal of Research, BANGRAU 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2459533265"/>
                  </a:ext>
                </a:extLst>
              </a:tr>
              <a:tr h="4421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Agmarknet Market Data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of India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analysis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crop arrivals and prices across markets; essential for local demand forecasting.</a:t>
                      </a:r>
                      <a:endParaRPr lang="en-US" sz="11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Ministry of Agriculture &amp; Farmers’ Welfare 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527128667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Agricultural Statistics at a Glance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of India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compilation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historical agricultural statistics for India; foundational dataset for LSTM-based forecasting.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Directorate of Economics &amp; Statistics (DES) 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652" marR="51652" marT="0" marB="0"/>
                </a:tc>
                <a:extLst>
                  <a:ext uri="{0D108BD9-81ED-4DB2-BD59-A6C34878D82A}">
                    <a16:rowId xmlns:a16="http://schemas.microsoft.com/office/drawing/2014/main" val="177698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36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0170198"/>
              </p:ext>
            </p:extLst>
          </p:nvPr>
        </p:nvGraphicFramePr>
        <p:xfrm>
          <a:off x="332510" y="1413163"/>
          <a:ext cx="11651670" cy="52785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0334">
                  <a:extLst>
                    <a:ext uri="{9D8B030D-6E8A-4147-A177-3AD203B41FA5}">
                      <a16:colId xmlns:a16="http://schemas.microsoft.com/office/drawing/2014/main" val="1029698522"/>
                    </a:ext>
                  </a:extLst>
                </a:gridCol>
                <a:gridCol w="2330334">
                  <a:extLst>
                    <a:ext uri="{9D8B030D-6E8A-4147-A177-3AD203B41FA5}">
                      <a16:colId xmlns:a16="http://schemas.microsoft.com/office/drawing/2014/main" val="3346525277"/>
                    </a:ext>
                  </a:extLst>
                </a:gridCol>
                <a:gridCol w="2330334">
                  <a:extLst>
                    <a:ext uri="{9D8B030D-6E8A-4147-A177-3AD203B41FA5}">
                      <a16:colId xmlns:a16="http://schemas.microsoft.com/office/drawing/2014/main" val="2808754600"/>
                    </a:ext>
                  </a:extLst>
                </a:gridCol>
                <a:gridCol w="2330334">
                  <a:extLst>
                    <a:ext uri="{9D8B030D-6E8A-4147-A177-3AD203B41FA5}">
                      <a16:colId xmlns:a16="http://schemas.microsoft.com/office/drawing/2014/main" val="90733000"/>
                    </a:ext>
                  </a:extLst>
                </a:gridCol>
                <a:gridCol w="2330334">
                  <a:extLst>
                    <a:ext uri="{9D8B030D-6E8A-4147-A177-3AD203B41FA5}">
                      <a16:colId xmlns:a16="http://schemas.microsoft.com/office/drawing/2014/main" val="2823889164"/>
                    </a:ext>
                  </a:extLst>
                </a:gridCol>
              </a:tblGrid>
              <a:tr h="7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Data-driven stochastic programming for sustainable agricultural supply chains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2014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Time-series analysis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Daily crop arrivals and prices across markets; essential for local demand forecasting.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H.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  <a:effectLst/>
                        </a:rPr>
                        <a:t>Darouni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</a:rPr>
                        <a:t> et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3873291"/>
                  </a:ext>
                </a:extLst>
              </a:tr>
              <a:tr h="12035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Crop Yield Prediction using Deep Learning Algorithm based on CNN-LSTM with Attention Layer and Skip Connection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 outperforms </a:t>
                      </a: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alone for long-term forecasts of rice yield in india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Journal of Research, BANGRAU 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3205894"/>
                  </a:ext>
                </a:extLst>
              </a:tr>
              <a:tr h="9607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 stochastic micro-periodic age-based inventory replenishment policy for perishable goods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 model forecasting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 model forecasting </a:t>
                      </a: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essential for local demand forecasting.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Janssen et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0391065"/>
                  </a:ext>
                </a:extLst>
              </a:tr>
              <a:tr h="9607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E-Agribusiness with special reference to Agricultural Marketing Information Network (AGMARKNET),”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Forecasted area, production, and yield for oilseeds up to 2031-32; demonstrates handling multi-year forecasts.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Gate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3200758"/>
                  </a:ext>
                </a:extLst>
              </a:tr>
              <a:tr h="7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 stacking ensemble model for food demand forecasting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Representative modern ML ensemble approach for food demand forecasting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A. Seyam et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5036862"/>
                  </a:ext>
                </a:extLst>
              </a:tr>
              <a:tr h="71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Real Time Cold Chain Monitoring System Using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 + ANN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 outperforms ARIMA alone for long-term forecasts of rice yield in USA</a:t>
                      </a:r>
                      <a:endParaRPr lang="en-US" sz="11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M. Shawon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7245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688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Methodologies/tools/techniques used</a:t>
            </a:r>
            <a:br>
              <a:rPr lang="en-IN" sz="2800" b="1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44235" y="1171574"/>
            <a:ext cx="11385839" cy="55006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8" y="1010340"/>
            <a:ext cx="4000499" cy="573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09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109" y="882033"/>
            <a:ext cx="11914909" cy="507831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Requirement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datasets.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system objectives and constraints.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input/output variables for LSTM.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System Design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database schema.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 and data flow diagrams.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design architecture.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ggy bank with money&#10;&#10;Description automatically generated">
            <a:extLst>
              <a:ext uri="{FF2B5EF4-FFF2-40B4-BE49-F238E27FC236}">
                <a16:creationId xmlns:a16="http://schemas.microsoft.com/office/drawing/2014/main" id="{F9EDE150-FD99-5960-1D71-1537FA512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182" y="4409424"/>
            <a:ext cx="3158836" cy="25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01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109" y="882033"/>
            <a:ext cx="11914909" cy="544764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System Development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with SQLite integration.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Bootstrap for UI.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development in Python (Tensor Flow/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accuracy with test datasets.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Model Training &amp; Testing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datasets (normalization, feature engineering).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LSTM model with historical data.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prediction reports.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ggy bank with money&#10;&#10;Description automatically generated">
            <a:extLst>
              <a:ext uri="{FF2B5EF4-FFF2-40B4-BE49-F238E27FC236}">
                <a16:creationId xmlns:a16="http://schemas.microsoft.com/office/drawing/2014/main" id="{F9EDE150-FD99-5960-1D71-1537FA512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947280"/>
            <a:ext cx="2493818" cy="20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2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109" y="882033"/>
            <a:ext cx="11914909" cy="655564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Integration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LSTM predictions into web system.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farmer profile module.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prediction reports.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6: Validation &amp; Deployment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GUI with real users (farmers).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and error handling.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localhost/server.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7: Documentation &amp; Reporting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project report.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ggy bank with money&#10;&#10;Description automatically generated">
            <a:extLst>
              <a:ext uri="{FF2B5EF4-FFF2-40B4-BE49-F238E27FC236}">
                <a16:creationId xmlns:a16="http://schemas.microsoft.com/office/drawing/2014/main" id="{F9EDE150-FD99-5960-1D71-1537FA512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947280"/>
            <a:ext cx="2493818" cy="20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3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Network)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ggy bank with money&#10;&#10;Description automatically generated">
            <a:extLst>
              <a:ext uri="{FF2B5EF4-FFF2-40B4-BE49-F238E27FC236}">
                <a16:creationId xmlns:a16="http://schemas.microsoft.com/office/drawing/2014/main" id="{F9EDE150-FD99-5960-1D71-1537FA512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947280"/>
            <a:ext cx="2493818" cy="20169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928" y="1431347"/>
            <a:ext cx="5169910" cy="4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51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Network)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ggy bank with money&#10;&#10;Description automatically generated">
            <a:extLst>
              <a:ext uri="{FF2B5EF4-FFF2-40B4-BE49-F238E27FC236}">
                <a16:creationId xmlns:a16="http://schemas.microsoft.com/office/drawing/2014/main" id="{F9EDE150-FD99-5960-1D71-1537FA512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947280"/>
            <a:ext cx="2493818" cy="201695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244437" y="1451753"/>
            <a:ext cx="7204363" cy="427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91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Systems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26" y="1233055"/>
            <a:ext cx="10222856" cy="525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52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5999" y="1251238"/>
            <a:ext cx="6885710" cy="530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52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Layer 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054" y="882033"/>
            <a:ext cx="5725391" cy="584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00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04429" y="1303481"/>
            <a:ext cx="4294043" cy="49172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12346" y="1303480"/>
            <a:ext cx="4408054" cy="491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88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 Farmer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969" y="1146030"/>
            <a:ext cx="7934347" cy="524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80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Admin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8" y="922108"/>
            <a:ext cx="8146472" cy="59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10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 fontScale="90000"/>
          </a:bodyPr>
          <a:lstStyle/>
          <a:p>
            <a:br>
              <a:rPr lang="en-IN" b="1"/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br>
              <a:rPr lang="en-US" b="1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396836" y="997528"/>
            <a:ext cx="7065819" cy="56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26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 fontScale="90000"/>
          </a:bodyPr>
          <a:lstStyle/>
          <a:p>
            <a:b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  <a:br>
              <a:rPr lang="en-US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08364" y="1593272"/>
            <a:ext cx="9254836" cy="490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02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 Diagram</a:t>
            </a:r>
            <a:br>
              <a:rPr lang="en-US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309" y="882033"/>
            <a:ext cx="8229599" cy="5975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899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 fontScale="90000"/>
          </a:bodyPr>
          <a:lstStyle/>
          <a:p>
            <a:br>
              <a:rPr lang="en-IN" b="1"/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br>
              <a:rPr lang="en-US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92036" y="882033"/>
            <a:ext cx="7495309" cy="597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80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2611512D-E7E2-1FFD-6D41-DACA84B4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203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Platform Details</a:t>
            </a:r>
            <a:br>
              <a:rPr lang="en-US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778184"/>
            <a:ext cx="8506692" cy="607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54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Result 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16526" y="962025"/>
            <a:ext cx="11385839" cy="550068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359157"/>
              </p:ext>
            </p:extLst>
          </p:nvPr>
        </p:nvGraphicFramePr>
        <p:xfrm>
          <a:off x="1856506" y="1219201"/>
          <a:ext cx="8285020" cy="4890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42510">
                  <a:extLst>
                    <a:ext uri="{9D8B030D-6E8A-4147-A177-3AD203B41FA5}">
                      <a16:colId xmlns:a16="http://schemas.microsoft.com/office/drawing/2014/main" val="3702491729"/>
                    </a:ext>
                  </a:extLst>
                </a:gridCol>
                <a:gridCol w="4142510">
                  <a:extLst>
                    <a:ext uri="{9D8B030D-6E8A-4147-A177-3AD203B41FA5}">
                      <a16:colId xmlns:a16="http://schemas.microsoft.com/office/drawing/2014/main" val="2641313756"/>
                    </a:ext>
                  </a:extLst>
                </a:gridCol>
              </a:tblGrid>
              <a:tr h="100059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4952333"/>
                  </a:ext>
                </a:extLst>
              </a:tr>
              <a:tr h="94443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5.85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7586200"/>
                  </a:ext>
                </a:extLst>
              </a:tr>
              <a:tr h="100059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3.95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8714481"/>
                  </a:ext>
                </a:extLst>
              </a:tr>
              <a:tr h="100059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7.05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1388600"/>
                  </a:ext>
                </a:extLst>
              </a:tr>
              <a:tr h="94443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92.95%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19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918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Result 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16526" y="962025"/>
            <a:ext cx="11385839" cy="55006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Crop Supply Chain Planner with Local Demand Forecasting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the application of AI for city-level crop demand prediction in India. By integrating historical data with a web-based farmer interface, the system provides actionable insights to optimize crop supply and minimize economic losses.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Local Demand Forecasts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Farmer-Centric Platform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Wastage &amp; Market Inefficiency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69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Conclusion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16526" y="962025"/>
            <a:ext cx="11385839" cy="550068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the significant role of Artificial Intelligence and predictive analytics in transforming agricultural supply chain management.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Seasonal Crop Supply Chain Management System provides a practical and scalable solution for improving crop planning, demand forecasting, market coordination, and overall supply chain efficiency.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supporting data-driven decision-making, the system contributes to sustainable agricultural development and enhances the economic well-being of farmers and other stakeholders in the agricultural ecosystem.</a:t>
            </a:r>
          </a:p>
        </p:txBody>
      </p:sp>
    </p:spTree>
    <p:extLst>
      <p:ext uri="{BB962C8B-B14F-4D97-AF65-F5344CB8AC3E}">
        <p14:creationId xmlns:p14="http://schemas.microsoft.com/office/powerpoint/2010/main" val="4105106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Future Scope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0" y="1204836"/>
            <a:ext cx="121920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Real-Time Weather Data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crop planning and forecasting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Crop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 soil moisture, temperature, and crop health.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farmers with easy access to market and crop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more accurate crop price and demand prediction.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chain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transparency and traceability in the supply chain.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Demand Forecasting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regions and cities.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Crop Recommendation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market trends and environmental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Supply Chain Tracking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transportation and inventory status.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Government Agricultural Portals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subsidies and support schemes.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Multi-Crop and Multi-Region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expand the system's applicability.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59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8CFE-12C1-2BBF-68BE-1800F12A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62C3480-8042-15A7-B47D-A61DD475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27" y="962025"/>
            <a:ext cx="11374582" cy="52725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M. Shukla, “ARIMA models to forecast demand in fresh supply chains,”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Oper. Res.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1–18, 2011.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https://doi.org/10.1504/IJOR.2011.040325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Government of India, Directorate of Marketing &amp; Inspection (DMI), “Agmarknet — Price Trends / Market Arrivals,” Agmarknet, 2024. [Online].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https://agmarknet.gov.in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G. Dobson, “An EOQ model for perishable goods with age-dependent deterioration,”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Eur. J. Oper. Res.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(article), 2017.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E. Tekin, “Age-based vs. stock-level control policies for a perishable inventory system,”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Eur. J. Oper. Res.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132, no. 3, pp. 596–606, 2001.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Poormoaied, “An exact analysis on age-based control policies for perishable inventories,”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(article)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[Online].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https://www.tandfonline.com/doi/full/10.1080/24725854.2020.1785649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96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8CFE-12C1-2BBF-68BE-1800F12A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62C3480-8042-15A7-B47D-A61DD475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27" y="962025"/>
            <a:ext cx="11374582" cy="52725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Q. Li, “Managing perishable inventories in retailing: Replenishment and clearance,”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Oper. Res.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(INFORMS), 2016.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https://pubsonline.informs.org/doi/10.1287/opre.2016.1523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S. A. d. Reis, J. E. Leal, and A. M. T. Thomé, “A two-stage stochastic linear programming model for tactical planning in the soybean supply chain,”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3, Art. no. 49, 2023, doi: 10.3390/logistics7030049.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H. Flores, “A stochastic planning framework for the discovery of agri-food supply chains,”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Eur. J. Oper. Res.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S. M. M. Nejad, “Capsular attention Conv-LSTM network (CACN): A deep learning approach to crop yield forecasting,”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Comput. Electron. Agric.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S. M. Shawon, “Crop yield prediction using machine learning: An extensive systematic literature review,”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Comput. Electron. Agric.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(review), 2024.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96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8CFE-12C1-2BBF-68BE-1800F12A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62C3480-8042-15A7-B47D-A61DD475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2025"/>
            <a:ext cx="12025745" cy="622848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M. A. Jabed et al., “Crop yield prediction in agriculture: A review of AI applications,”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Agronomy / Comput. Electron. Agric.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“Crop Yield Prediction using Deep Learning Algorithm based on CNN-LSTM with Attention Layer and Skip Connection,”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Journal of Agricultural Research (ARCC Journals)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[Online].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https://arccjournals.com/journal/indian-journal-of-agricultural-research/A-6300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H. Darouni et al., “Data-driven stochastic programming for sustainable agricultural supply chains,”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(article)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“Smart Cold Chain Logistics Using IoT for Perishable Agricultural Products,” Research Gate publication (IoT cold-chain survey/implementation), 2021–2025. [Online].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https://www.researchgate.net/publication/389490304_Smart_Cold_Chain_Logistics_Using_IoT_for_Perishable_Agricultural_Products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“Real Time Cold Chain Monitoring System Using IoT,” Research Gate / conference article (system prototype), 2021. [Online].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https://www.researchgate.net/publication/373366064_Real_Time_Cold_Chain_Monitoring_System_Using_IoT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65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8CFE-12C1-2BBF-68BE-1800F12A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62C3480-8042-15A7-B47D-A61DD475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672" y="962025"/>
            <a:ext cx="11187545" cy="54032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L. Janssen et al., “A stochastic micro-periodic age-based inventory replenishment policy for perishable goods,”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Eur. J. Oper. Res.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(representative), 2018. [Online]. Available: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https://www.sciencedirect.com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A. Birkmaier et al., “Improving supply chain planning for perishable food: Data-driven forecasting expectations,”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/ Practitioner Report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[Online]. (industry/practitioner literature on forecast-to-plan for perishables)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809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8962" y="2405856"/>
            <a:ext cx="593407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81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4519</TotalTime>
  <Words>2222</Words>
  <Application>Microsoft Office PowerPoint</Application>
  <PresentationFormat>Widescreen</PresentationFormat>
  <Paragraphs>226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Times New Roman</vt:lpstr>
      <vt:lpstr>Office Theme</vt:lpstr>
      <vt:lpstr>  A Project  on   "Seasonal Crop Price Prediction Using  AI ML” </vt:lpstr>
      <vt:lpstr>  Contents</vt:lpstr>
      <vt:lpstr>Abstract</vt:lpstr>
      <vt:lpstr>Project Objectives</vt:lpstr>
      <vt:lpstr>Project Objectives</vt:lpstr>
      <vt:lpstr>Scope of Project</vt:lpstr>
      <vt:lpstr> Literature survey </vt:lpstr>
      <vt:lpstr>Literature survey</vt:lpstr>
      <vt:lpstr>Methodologies/tools/techniques used </vt:lpstr>
      <vt:lpstr>Project Planning</vt:lpstr>
      <vt:lpstr>Project Planning</vt:lpstr>
      <vt:lpstr>Project Planning</vt:lpstr>
      <vt:lpstr>Project Planning (Task Network)</vt:lpstr>
      <vt:lpstr>Project Planning (Task Network)</vt:lpstr>
      <vt:lpstr>Systems Architecture</vt:lpstr>
      <vt:lpstr>Data Flow Diagram</vt:lpstr>
      <vt:lpstr>Systems Layer  Diagram</vt:lpstr>
      <vt:lpstr>Use Case</vt:lpstr>
      <vt:lpstr>Sequence Diagram  Farmer</vt:lpstr>
      <vt:lpstr>Sequence Diagram Admin</vt:lpstr>
      <vt:lpstr> Class Diagram </vt:lpstr>
      <vt:lpstr> Component Diagram </vt:lpstr>
      <vt:lpstr> Deployment  Diagram </vt:lpstr>
      <vt:lpstr> Activity Diagram </vt:lpstr>
      <vt:lpstr>  Web Platform Details </vt:lpstr>
      <vt:lpstr>Project Result </vt:lpstr>
      <vt:lpstr>Project Result </vt:lpstr>
      <vt:lpstr> Project Conclusion </vt:lpstr>
      <vt:lpstr> Project Future Scope  </vt:lpstr>
      <vt:lpstr> References    </vt:lpstr>
      <vt:lpstr> References    </vt:lpstr>
      <vt:lpstr> References    </vt:lpstr>
      <vt:lpstr> 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Seminar on  Credit Card Fraud Detection Using Machine Learning</dc:title>
  <dc:creator>AMOL</dc:creator>
  <cp:lastModifiedBy>Aniket Sawant</cp:lastModifiedBy>
  <cp:revision>55</cp:revision>
  <dcterms:modified xsi:type="dcterms:W3CDTF">2026-07-02T06:20:55Z</dcterms:modified>
</cp:coreProperties>
</file>